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28"/>
        <p:guide pos="388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5.jpeg"/><Relationship Id="rId8" Type="http://schemas.openxmlformats.org/officeDocument/2006/relationships/tags" Target="../tags/tag4.xml"/><Relationship Id="rId7" Type="http://schemas.openxmlformats.org/officeDocument/2006/relationships/image" Target="../media/image4.jpeg"/><Relationship Id="rId6" Type="http://schemas.openxmlformats.org/officeDocument/2006/relationships/image" Target="../media/image3.jpeg"/><Relationship Id="rId5" Type="http://schemas.openxmlformats.org/officeDocument/2006/relationships/tags" Target="../tags/tag3.xml"/><Relationship Id="rId4" Type="http://schemas.openxmlformats.org/officeDocument/2006/relationships/image" Target="../media/image2.jpeg"/><Relationship Id="rId3" Type="http://schemas.openxmlformats.org/officeDocument/2006/relationships/tags" Target="../tags/tag2.xml"/><Relationship Id="rId2" Type="http://schemas.openxmlformats.org/officeDocument/2006/relationships/image" Target="../media/image1.jpeg"/><Relationship Id="rId12" Type="http://schemas.openxmlformats.org/officeDocument/2006/relationships/slideLayout" Target="../slideLayouts/slideLayout2.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tags" Target="../tags/tag9.xml"/><Relationship Id="rId4" Type="http://schemas.openxmlformats.org/officeDocument/2006/relationships/image" Target="../media/image2.jpeg"/><Relationship Id="rId3" Type="http://schemas.openxmlformats.org/officeDocument/2006/relationships/tags" Target="../tags/tag8.xml"/><Relationship Id="rId2" Type="http://schemas.openxmlformats.org/officeDocument/2006/relationships/image" Target="../media/image1.jpeg"/><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583373" y="2178685"/>
            <a:ext cx="9666605" cy="1506855"/>
          </a:xfrm>
          <a:prstGeom prst="rect">
            <a:avLst/>
          </a:prstGeom>
          <a:noFill/>
          <a:ln>
            <a:noFill/>
          </a:ln>
        </p:spPr>
        <p:txBody>
          <a:bodyPr wrap="none" rtlCol="0" anchor="t">
            <a:spAutoFit/>
          </a:bodyPr>
          <a:p>
            <a:pPr algn="ctr"/>
            <a:r>
              <a:rPr lang="en-US" altLang="zh-CN" sz="60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ArcFace</a:t>
            </a:r>
            <a:endParaRPr lang="en-US" altLang="zh-CN" sz="60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algn="ctr"/>
            <a:r>
              <a:rPr lang="en-US" altLang="zh-CN" sz="32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Additive Angular Margin Loss for Deep Face Recognition</a:t>
            </a:r>
            <a:endParaRPr lang="en-US" altLang="zh-CN" sz="32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685165" y="579120"/>
            <a:ext cx="1808480" cy="583565"/>
          </a:xfrm>
          <a:prstGeom prst="rect">
            <a:avLst/>
          </a:prstGeom>
          <a:noFill/>
          <a:ln>
            <a:noFill/>
          </a:ln>
        </p:spPr>
        <p:txBody>
          <a:bodyPr wrap="none" rtlCol="0" anchor="t">
            <a:spAutoFit/>
          </a:bodyPr>
          <a:p>
            <a:pPr algn="ctr"/>
            <a:r>
              <a:rPr lang="zh-CN" altLang="en-US" sz="3200">
                <a:solidFill>
                  <a:schemeClr val="tx1"/>
                </a:solidFill>
                <a:effectLst>
                  <a:outerShdw blurRad="38100" dist="19050" dir="2700000" algn="tl" rotWithShape="0">
                    <a:schemeClr val="dk1">
                      <a:alpha val="40000"/>
                    </a:schemeClr>
                  </a:outerShdw>
                </a:effectLst>
              </a:rPr>
              <a:t>人脸检索</a:t>
            </a:r>
            <a:endParaRPr lang="zh-CN" altLang="en-US" sz="3200">
              <a:solidFill>
                <a:schemeClr val="tx1"/>
              </a:solidFill>
              <a:effectLst>
                <a:outerShdw blurRad="38100" dist="19050" dir="2700000" algn="tl" rotWithShape="0">
                  <a:schemeClr val="dk1">
                    <a:alpha val="40000"/>
                  </a:schemeClr>
                </a:outerShdw>
              </a:effectLst>
            </a:endParaRPr>
          </a:p>
        </p:txBody>
      </p:sp>
      <p:pic>
        <p:nvPicPr>
          <p:cNvPr id="6" name="图片 5" descr="Aaron_Sorkin_0002"/>
          <p:cNvPicPr>
            <a:picLocks noChangeAspect="1"/>
          </p:cNvPicPr>
          <p:nvPr>
            <p:custDataLst>
              <p:tags r:id="rId1"/>
            </p:custDataLst>
          </p:nvPr>
        </p:nvPicPr>
        <p:blipFill>
          <a:blip r:embed="rId2"/>
          <a:stretch>
            <a:fillRect/>
          </a:stretch>
        </p:blipFill>
        <p:spPr>
          <a:xfrm>
            <a:off x="4633595" y="1986280"/>
            <a:ext cx="989330" cy="989330"/>
          </a:xfrm>
          <a:prstGeom prst="rect">
            <a:avLst/>
          </a:prstGeom>
        </p:spPr>
      </p:pic>
      <p:pic>
        <p:nvPicPr>
          <p:cNvPr id="7" name="图片 6" descr="Aaron_Sorkin_0001"/>
          <p:cNvPicPr>
            <a:picLocks noChangeAspect="1"/>
          </p:cNvPicPr>
          <p:nvPr>
            <p:custDataLst>
              <p:tags r:id="rId3"/>
            </p:custDataLst>
          </p:nvPr>
        </p:nvPicPr>
        <p:blipFill>
          <a:blip r:embed="rId4"/>
          <a:stretch>
            <a:fillRect/>
          </a:stretch>
        </p:blipFill>
        <p:spPr>
          <a:xfrm>
            <a:off x="1946910" y="2524125"/>
            <a:ext cx="1035050" cy="1035050"/>
          </a:xfrm>
          <a:prstGeom prst="rect">
            <a:avLst/>
          </a:prstGeom>
        </p:spPr>
      </p:pic>
      <p:pic>
        <p:nvPicPr>
          <p:cNvPr id="8" name="图片 7" descr="Aaron_Tippin_0001"/>
          <p:cNvPicPr>
            <a:picLocks noChangeAspect="1"/>
          </p:cNvPicPr>
          <p:nvPr>
            <p:custDataLst>
              <p:tags r:id="rId5"/>
            </p:custDataLst>
          </p:nvPr>
        </p:nvPicPr>
        <p:blipFill>
          <a:blip r:embed="rId6"/>
          <a:stretch>
            <a:fillRect/>
          </a:stretch>
        </p:blipFill>
        <p:spPr>
          <a:xfrm>
            <a:off x="4613910" y="3378200"/>
            <a:ext cx="1009015" cy="1009015"/>
          </a:xfrm>
          <a:prstGeom prst="rect">
            <a:avLst/>
          </a:prstGeom>
        </p:spPr>
      </p:pic>
      <p:pic>
        <p:nvPicPr>
          <p:cNvPr id="9" name="图片 8" descr="Abdel_Nasser_Assidi_0002"/>
          <p:cNvPicPr>
            <a:picLocks noChangeAspect="1"/>
          </p:cNvPicPr>
          <p:nvPr/>
        </p:nvPicPr>
        <p:blipFill>
          <a:blip r:embed="rId7"/>
          <a:stretch>
            <a:fillRect/>
          </a:stretch>
        </p:blipFill>
        <p:spPr>
          <a:xfrm>
            <a:off x="4633595" y="4870450"/>
            <a:ext cx="1045210" cy="1045210"/>
          </a:xfrm>
          <a:prstGeom prst="rect">
            <a:avLst/>
          </a:prstGeom>
        </p:spPr>
      </p:pic>
      <p:pic>
        <p:nvPicPr>
          <p:cNvPr id="10" name="图片 9" descr="Abel_Pacheco_0003"/>
          <p:cNvPicPr>
            <a:picLocks noChangeAspect="1"/>
          </p:cNvPicPr>
          <p:nvPr>
            <p:custDataLst>
              <p:tags r:id="rId8"/>
            </p:custDataLst>
          </p:nvPr>
        </p:nvPicPr>
        <p:blipFill>
          <a:blip r:embed="rId9"/>
          <a:stretch>
            <a:fillRect/>
          </a:stretch>
        </p:blipFill>
        <p:spPr>
          <a:xfrm>
            <a:off x="1946910" y="4023995"/>
            <a:ext cx="1035685" cy="1035685"/>
          </a:xfrm>
          <a:prstGeom prst="rect">
            <a:avLst/>
          </a:prstGeom>
        </p:spPr>
      </p:pic>
      <p:sp>
        <p:nvSpPr>
          <p:cNvPr id="11" name="文本框 10"/>
          <p:cNvSpPr txBox="1"/>
          <p:nvPr/>
        </p:nvSpPr>
        <p:spPr>
          <a:xfrm>
            <a:off x="7409815" y="3559175"/>
            <a:ext cx="3213100" cy="368300"/>
          </a:xfrm>
          <a:prstGeom prst="rect">
            <a:avLst/>
          </a:prstGeom>
          <a:noFill/>
        </p:spPr>
        <p:txBody>
          <a:bodyPr wrap="square" rtlCol="0">
            <a:spAutoFit/>
          </a:bodyPr>
          <a:p>
            <a:r>
              <a:rPr lang="zh-CN" altLang="en-US"/>
              <a:t>新来的照片在不在</a:t>
            </a:r>
            <a:r>
              <a:rPr lang="zh-CN" altLang="en-US">
                <a:sym typeface="+mn-ea"/>
              </a:rPr>
              <a:t>数据</a:t>
            </a:r>
            <a:r>
              <a:rPr lang="zh-CN" altLang="en-US"/>
              <a:t>库</a:t>
            </a:r>
            <a:r>
              <a:rPr lang="zh-CN" altLang="en-US"/>
              <a:t>当中？</a:t>
            </a:r>
            <a:endParaRPr lang="zh-CN" altLang="en-US"/>
          </a:p>
        </p:txBody>
      </p:sp>
      <p:sp>
        <p:nvSpPr>
          <p:cNvPr id="13" name="文本框 12"/>
          <p:cNvSpPr txBox="1"/>
          <p:nvPr>
            <p:custDataLst>
              <p:tags r:id="rId10"/>
            </p:custDataLst>
          </p:nvPr>
        </p:nvSpPr>
        <p:spPr>
          <a:xfrm>
            <a:off x="4633595" y="1391285"/>
            <a:ext cx="886460" cy="368300"/>
          </a:xfrm>
          <a:prstGeom prst="rect">
            <a:avLst/>
          </a:prstGeom>
          <a:noFill/>
        </p:spPr>
        <p:txBody>
          <a:bodyPr wrap="square" rtlCol="0">
            <a:spAutoFit/>
          </a:bodyPr>
          <a:p>
            <a:r>
              <a:rPr lang="zh-CN" altLang="en-US"/>
              <a:t>数据库</a:t>
            </a:r>
            <a:endParaRPr lang="zh-CN" altLang="en-US"/>
          </a:p>
        </p:txBody>
      </p:sp>
      <p:sp>
        <p:nvSpPr>
          <p:cNvPr id="14" name="文本框 13"/>
          <p:cNvSpPr txBox="1"/>
          <p:nvPr>
            <p:custDataLst>
              <p:tags r:id="rId11"/>
            </p:custDataLst>
          </p:nvPr>
        </p:nvSpPr>
        <p:spPr>
          <a:xfrm>
            <a:off x="1946910" y="1986280"/>
            <a:ext cx="886460" cy="368300"/>
          </a:xfrm>
          <a:prstGeom prst="rect">
            <a:avLst/>
          </a:prstGeom>
          <a:noFill/>
        </p:spPr>
        <p:txBody>
          <a:bodyPr wrap="square" rtlCol="0">
            <a:spAutoFit/>
          </a:bodyPr>
          <a:p>
            <a:r>
              <a:rPr lang="zh-CN" altLang="en-US"/>
              <a:t>新</a:t>
            </a:r>
            <a:r>
              <a:rPr lang="zh-CN" altLang="en-US"/>
              <a:t>图片</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804545" y="642620"/>
            <a:ext cx="1808480" cy="583565"/>
          </a:xfrm>
          <a:prstGeom prst="rect">
            <a:avLst/>
          </a:prstGeom>
          <a:noFill/>
          <a:ln>
            <a:noFill/>
          </a:ln>
        </p:spPr>
        <p:txBody>
          <a:bodyPr wrap="none" rtlCol="0" anchor="t">
            <a:spAutoFit/>
          </a:bodyPr>
          <a:p>
            <a:pPr algn="ctr"/>
            <a:r>
              <a:rPr lang="zh-CN" altLang="en-US" sz="3200">
                <a:solidFill>
                  <a:schemeClr val="tx1"/>
                </a:solidFill>
                <a:effectLst>
                  <a:outerShdw blurRad="38100" dist="19050" dir="2700000" algn="tl" rotWithShape="0">
                    <a:schemeClr val="dk1">
                      <a:alpha val="40000"/>
                    </a:schemeClr>
                  </a:outerShdw>
                </a:effectLst>
              </a:rPr>
              <a:t>特征</a:t>
            </a:r>
            <a:r>
              <a:rPr lang="zh-CN" altLang="en-US" sz="3200">
                <a:solidFill>
                  <a:schemeClr val="tx1"/>
                </a:solidFill>
                <a:effectLst>
                  <a:outerShdw blurRad="38100" dist="19050" dir="2700000" algn="tl" rotWithShape="0">
                    <a:schemeClr val="dk1">
                      <a:alpha val="40000"/>
                    </a:schemeClr>
                  </a:outerShdw>
                </a:effectLst>
              </a:rPr>
              <a:t>距离</a:t>
            </a:r>
            <a:endParaRPr lang="zh-CN" altLang="en-US" sz="3200">
              <a:solidFill>
                <a:schemeClr val="tx1"/>
              </a:solidFill>
              <a:effectLst>
                <a:outerShdw blurRad="38100" dist="19050" dir="2700000" algn="tl" rotWithShape="0">
                  <a:schemeClr val="dk1">
                    <a:alpha val="40000"/>
                  </a:schemeClr>
                </a:outerShdw>
              </a:effectLst>
            </a:endParaRPr>
          </a:p>
        </p:txBody>
      </p:sp>
      <p:pic>
        <p:nvPicPr>
          <p:cNvPr id="10" name="图片 9" descr="Aaron_Sorkin_0002"/>
          <p:cNvPicPr>
            <a:picLocks noChangeAspect="1"/>
          </p:cNvPicPr>
          <p:nvPr>
            <p:custDataLst>
              <p:tags r:id="rId1"/>
            </p:custDataLst>
          </p:nvPr>
        </p:nvPicPr>
        <p:blipFill>
          <a:blip r:embed="rId2"/>
          <a:stretch>
            <a:fillRect/>
          </a:stretch>
        </p:blipFill>
        <p:spPr>
          <a:xfrm>
            <a:off x="1577975" y="1624330"/>
            <a:ext cx="989330" cy="989330"/>
          </a:xfrm>
          <a:prstGeom prst="rect">
            <a:avLst/>
          </a:prstGeom>
        </p:spPr>
      </p:pic>
      <p:pic>
        <p:nvPicPr>
          <p:cNvPr id="11" name="图片 10" descr="Aaron_Sorkin_0001"/>
          <p:cNvPicPr>
            <a:picLocks noChangeAspect="1"/>
          </p:cNvPicPr>
          <p:nvPr>
            <p:custDataLst>
              <p:tags r:id="rId3"/>
            </p:custDataLst>
          </p:nvPr>
        </p:nvPicPr>
        <p:blipFill>
          <a:blip r:embed="rId4"/>
          <a:stretch>
            <a:fillRect/>
          </a:stretch>
        </p:blipFill>
        <p:spPr>
          <a:xfrm>
            <a:off x="1532255" y="3110865"/>
            <a:ext cx="1035050" cy="1035050"/>
          </a:xfrm>
          <a:prstGeom prst="rect">
            <a:avLst/>
          </a:prstGeom>
        </p:spPr>
      </p:pic>
      <p:pic>
        <p:nvPicPr>
          <p:cNvPr id="12" name="图片 11" descr="Aaron_Tippin_0001"/>
          <p:cNvPicPr>
            <a:picLocks noChangeAspect="1"/>
          </p:cNvPicPr>
          <p:nvPr>
            <p:custDataLst>
              <p:tags r:id="rId5"/>
            </p:custDataLst>
          </p:nvPr>
        </p:nvPicPr>
        <p:blipFill>
          <a:blip r:embed="rId6"/>
          <a:stretch>
            <a:fillRect/>
          </a:stretch>
        </p:blipFill>
        <p:spPr>
          <a:xfrm>
            <a:off x="1532255" y="4643120"/>
            <a:ext cx="1009015" cy="1009015"/>
          </a:xfrm>
          <a:prstGeom prst="rect">
            <a:avLst/>
          </a:prstGeom>
        </p:spPr>
      </p:pic>
      <p:sp>
        <p:nvSpPr>
          <p:cNvPr id="13" name="右大括号 12"/>
          <p:cNvSpPr/>
          <p:nvPr/>
        </p:nvSpPr>
        <p:spPr>
          <a:xfrm>
            <a:off x="2945130" y="1985010"/>
            <a:ext cx="548640" cy="332994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矩形 13"/>
          <p:cNvSpPr/>
          <p:nvPr/>
        </p:nvSpPr>
        <p:spPr>
          <a:xfrm>
            <a:off x="3871595" y="2613660"/>
            <a:ext cx="876300" cy="195834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4115435" y="3050540"/>
            <a:ext cx="387985" cy="1198880"/>
          </a:xfrm>
          <a:prstGeom prst="rect">
            <a:avLst/>
          </a:prstGeom>
          <a:noFill/>
        </p:spPr>
        <p:txBody>
          <a:bodyPr wrap="square" rtlCol="0">
            <a:spAutoFit/>
          </a:bodyPr>
          <a:p>
            <a:r>
              <a:rPr lang="zh-CN" altLang="en-US"/>
              <a:t>神经</a:t>
            </a:r>
            <a:r>
              <a:rPr lang="zh-CN" altLang="en-US"/>
              <a:t>网络</a:t>
            </a:r>
            <a:endParaRPr lang="zh-CN" altLang="en-US"/>
          </a:p>
        </p:txBody>
      </p:sp>
      <p:sp>
        <p:nvSpPr>
          <p:cNvPr id="17" name="右大括号 16"/>
          <p:cNvSpPr/>
          <p:nvPr/>
        </p:nvSpPr>
        <p:spPr>
          <a:xfrm flipH="1">
            <a:off x="5125085" y="1984375"/>
            <a:ext cx="509270" cy="333057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立方体 19"/>
          <p:cNvSpPr/>
          <p:nvPr/>
        </p:nvSpPr>
        <p:spPr>
          <a:xfrm>
            <a:off x="567436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立方体 20"/>
          <p:cNvSpPr/>
          <p:nvPr/>
        </p:nvSpPr>
        <p:spPr>
          <a:xfrm>
            <a:off x="580136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立方体 21"/>
          <p:cNvSpPr/>
          <p:nvPr/>
        </p:nvSpPr>
        <p:spPr>
          <a:xfrm>
            <a:off x="591502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立方体 22"/>
          <p:cNvSpPr/>
          <p:nvPr/>
        </p:nvSpPr>
        <p:spPr>
          <a:xfrm>
            <a:off x="603758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立方体 23"/>
          <p:cNvSpPr/>
          <p:nvPr/>
        </p:nvSpPr>
        <p:spPr>
          <a:xfrm>
            <a:off x="615569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立方体 24"/>
          <p:cNvSpPr/>
          <p:nvPr/>
        </p:nvSpPr>
        <p:spPr>
          <a:xfrm>
            <a:off x="627380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立方体 25"/>
          <p:cNvSpPr/>
          <p:nvPr/>
        </p:nvSpPr>
        <p:spPr>
          <a:xfrm>
            <a:off x="639635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立方体 26"/>
          <p:cNvSpPr/>
          <p:nvPr/>
        </p:nvSpPr>
        <p:spPr>
          <a:xfrm>
            <a:off x="652335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立方体 27"/>
          <p:cNvSpPr/>
          <p:nvPr/>
        </p:nvSpPr>
        <p:spPr>
          <a:xfrm>
            <a:off x="6637020"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立方体 28"/>
          <p:cNvSpPr/>
          <p:nvPr/>
        </p:nvSpPr>
        <p:spPr>
          <a:xfrm>
            <a:off x="675957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立方体 29"/>
          <p:cNvSpPr/>
          <p:nvPr/>
        </p:nvSpPr>
        <p:spPr>
          <a:xfrm>
            <a:off x="687768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立方体 30"/>
          <p:cNvSpPr/>
          <p:nvPr/>
        </p:nvSpPr>
        <p:spPr>
          <a:xfrm>
            <a:off x="6995795" y="1937385"/>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立方体 37"/>
          <p:cNvSpPr/>
          <p:nvPr/>
        </p:nvSpPr>
        <p:spPr>
          <a:xfrm>
            <a:off x="567436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立方体 38"/>
          <p:cNvSpPr/>
          <p:nvPr/>
        </p:nvSpPr>
        <p:spPr>
          <a:xfrm>
            <a:off x="580136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立方体 39"/>
          <p:cNvSpPr/>
          <p:nvPr/>
        </p:nvSpPr>
        <p:spPr>
          <a:xfrm>
            <a:off x="591502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立方体 40"/>
          <p:cNvSpPr/>
          <p:nvPr/>
        </p:nvSpPr>
        <p:spPr>
          <a:xfrm>
            <a:off x="603758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立方体 41"/>
          <p:cNvSpPr/>
          <p:nvPr/>
        </p:nvSpPr>
        <p:spPr>
          <a:xfrm>
            <a:off x="615569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立方体 42"/>
          <p:cNvSpPr/>
          <p:nvPr/>
        </p:nvSpPr>
        <p:spPr>
          <a:xfrm>
            <a:off x="627380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立方体 43"/>
          <p:cNvSpPr/>
          <p:nvPr/>
        </p:nvSpPr>
        <p:spPr>
          <a:xfrm>
            <a:off x="639635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立方体 44"/>
          <p:cNvSpPr/>
          <p:nvPr/>
        </p:nvSpPr>
        <p:spPr>
          <a:xfrm>
            <a:off x="652335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立方体 45"/>
          <p:cNvSpPr/>
          <p:nvPr/>
        </p:nvSpPr>
        <p:spPr>
          <a:xfrm>
            <a:off x="6637020"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立方体 46"/>
          <p:cNvSpPr/>
          <p:nvPr/>
        </p:nvSpPr>
        <p:spPr>
          <a:xfrm>
            <a:off x="675957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立方体 47"/>
          <p:cNvSpPr/>
          <p:nvPr/>
        </p:nvSpPr>
        <p:spPr>
          <a:xfrm>
            <a:off x="687768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立方体 48"/>
          <p:cNvSpPr/>
          <p:nvPr/>
        </p:nvSpPr>
        <p:spPr>
          <a:xfrm>
            <a:off x="6995795" y="354457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立方体 49"/>
          <p:cNvSpPr/>
          <p:nvPr/>
        </p:nvSpPr>
        <p:spPr>
          <a:xfrm>
            <a:off x="569531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立方体 50"/>
          <p:cNvSpPr/>
          <p:nvPr/>
        </p:nvSpPr>
        <p:spPr>
          <a:xfrm>
            <a:off x="582231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立方体 51"/>
          <p:cNvSpPr/>
          <p:nvPr/>
        </p:nvSpPr>
        <p:spPr>
          <a:xfrm>
            <a:off x="593598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立方体 52"/>
          <p:cNvSpPr/>
          <p:nvPr/>
        </p:nvSpPr>
        <p:spPr>
          <a:xfrm>
            <a:off x="605853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立方体 53"/>
          <p:cNvSpPr/>
          <p:nvPr/>
        </p:nvSpPr>
        <p:spPr>
          <a:xfrm>
            <a:off x="617664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立方体 54"/>
          <p:cNvSpPr/>
          <p:nvPr/>
        </p:nvSpPr>
        <p:spPr>
          <a:xfrm>
            <a:off x="629475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立方体 55"/>
          <p:cNvSpPr/>
          <p:nvPr/>
        </p:nvSpPr>
        <p:spPr>
          <a:xfrm>
            <a:off x="641731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立方体 56"/>
          <p:cNvSpPr/>
          <p:nvPr/>
        </p:nvSpPr>
        <p:spPr>
          <a:xfrm>
            <a:off x="654431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立方体 57"/>
          <p:cNvSpPr/>
          <p:nvPr/>
        </p:nvSpPr>
        <p:spPr>
          <a:xfrm>
            <a:off x="6657975"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立方体 58"/>
          <p:cNvSpPr/>
          <p:nvPr/>
        </p:nvSpPr>
        <p:spPr>
          <a:xfrm>
            <a:off x="678053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立方体 59"/>
          <p:cNvSpPr/>
          <p:nvPr/>
        </p:nvSpPr>
        <p:spPr>
          <a:xfrm>
            <a:off x="689864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立方体 60"/>
          <p:cNvSpPr/>
          <p:nvPr/>
        </p:nvSpPr>
        <p:spPr>
          <a:xfrm>
            <a:off x="7016750" y="5267960"/>
            <a:ext cx="139065" cy="9652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2" name="文本框 61"/>
          <p:cNvSpPr txBox="1"/>
          <p:nvPr/>
        </p:nvSpPr>
        <p:spPr>
          <a:xfrm>
            <a:off x="5850890" y="1336675"/>
            <a:ext cx="1137920" cy="368300"/>
          </a:xfrm>
          <a:prstGeom prst="rect">
            <a:avLst/>
          </a:prstGeom>
          <a:noFill/>
        </p:spPr>
        <p:txBody>
          <a:bodyPr wrap="square" rtlCol="0">
            <a:spAutoFit/>
          </a:bodyPr>
          <a:p>
            <a:r>
              <a:rPr lang="zh-CN" altLang="en-US"/>
              <a:t>特征</a:t>
            </a:r>
            <a:r>
              <a:rPr lang="zh-CN" altLang="en-US"/>
              <a:t>向量</a:t>
            </a:r>
            <a:endParaRPr lang="zh-CN" altLang="en-US"/>
          </a:p>
        </p:txBody>
      </p:sp>
      <p:sp>
        <p:nvSpPr>
          <p:cNvPr id="64" name="文本框 63"/>
          <p:cNvSpPr txBox="1"/>
          <p:nvPr/>
        </p:nvSpPr>
        <p:spPr>
          <a:xfrm>
            <a:off x="8427085" y="2954020"/>
            <a:ext cx="2656205" cy="1198880"/>
          </a:xfrm>
          <a:prstGeom prst="rect">
            <a:avLst/>
          </a:prstGeom>
          <a:noFill/>
        </p:spPr>
        <p:txBody>
          <a:bodyPr wrap="square" rtlCol="0">
            <a:spAutoFit/>
          </a:bodyPr>
          <a:p>
            <a:r>
              <a:rPr lang="zh-CN" altLang="en-US"/>
              <a:t>比较特征</a:t>
            </a:r>
            <a:r>
              <a:rPr lang="zh-CN" altLang="en-US"/>
              <a:t>向量</a:t>
            </a:r>
            <a:endParaRPr lang="zh-CN" altLang="en-US"/>
          </a:p>
          <a:p>
            <a:r>
              <a:rPr lang="en-US" altLang="zh-CN"/>
              <a:t>     1. L2</a:t>
            </a:r>
            <a:r>
              <a:rPr lang="zh-CN" altLang="en-US"/>
              <a:t>距离</a:t>
            </a:r>
            <a:endParaRPr lang="zh-CN" altLang="en-US"/>
          </a:p>
          <a:p>
            <a:r>
              <a:rPr lang="en-US" altLang="zh-CN"/>
              <a:t>     2. </a:t>
            </a:r>
            <a:r>
              <a:rPr lang="zh-CN" altLang="en-US"/>
              <a:t>余弦</a:t>
            </a:r>
            <a:r>
              <a:rPr lang="zh-CN" altLang="en-US"/>
              <a:t>相似度</a:t>
            </a:r>
            <a:endParaRPr lang="zh-CN" altLang="en-US"/>
          </a:p>
          <a:p>
            <a:r>
              <a:rPr lang="en-US" altLang="zh-CN"/>
              <a:t> </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731520" y="642620"/>
            <a:ext cx="2214880" cy="583565"/>
          </a:xfrm>
          <a:prstGeom prst="rect">
            <a:avLst/>
          </a:prstGeom>
          <a:noFill/>
          <a:ln>
            <a:noFill/>
          </a:ln>
        </p:spPr>
        <p:txBody>
          <a:bodyPr wrap="none" rtlCol="0" anchor="t">
            <a:spAutoFit/>
          </a:bodyPr>
          <a:p>
            <a:pPr algn="ctr"/>
            <a:r>
              <a:rPr lang="zh-CN" altLang="en-US" sz="3200">
                <a:solidFill>
                  <a:schemeClr val="tx1"/>
                </a:solidFill>
                <a:effectLst>
                  <a:outerShdw blurRad="38100" dist="19050" dir="2700000" algn="tl" rotWithShape="0">
                    <a:schemeClr val="dk1">
                      <a:alpha val="40000"/>
                    </a:schemeClr>
                  </a:outerShdw>
                </a:effectLst>
              </a:rPr>
              <a:t>余弦</a:t>
            </a:r>
            <a:r>
              <a:rPr lang="zh-CN" altLang="en-US" sz="3200">
                <a:solidFill>
                  <a:schemeClr val="tx1"/>
                </a:solidFill>
                <a:effectLst>
                  <a:outerShdw blurRad="38100" dist="19050" dir="2700000" algn="tl" rotWithShape="0">
                    <a:schemeClr val="dk1">
                      <a:alpha val="40000"/>
                    </a:schemeClr>
                  </a:outerShdw>
                </a:effectLst>
              </a:rPr>
              <a:t>相似度</a:t>
            </a:r>
            <a:endParaRPr lang="zh-CN" altLang="en-US" sz="320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mc:Choice xmlns:a14="http://schemas.microsoft.com/office/drawing/2010/main" Requires="a14">
          <p:sp>
            <p:nvSpPr>
              <p:cNvPr id="4" name="文本框 3"/>
              <p:cNvSpPr txBox="1"/>
              <p:nvPr/>
            </p:nvSpPr>
            <p:spPr>
              <a:xfrm>
                <a:off x="1175321" y="1736344"/>
                <a:ext cx="216979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𝑎</m:t>
                          </m:r>
                        </m:e>
                      </m:d>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𝑏</m:t>
                          </m:r>
                        </m:e>
                      </m:d>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cos</m:t>
                          </m:r>
                        </m:fName>
                        <m:e>
                          <m:r>
                            <a:rPr lang="en-US" altLang="zh-CN" i="1">
                              <a:latin typeface="Cambria Math" panose="02040503050406030204" charset="0"/>
                              <a:cs typeface="Cambria Math" panose="02040503050406030204" charset="0"/>
                            </a:rPr>
                            <m:t>𝜃</m:t>
                          </m:r>
                        </m:e>
                      </m:func>
                    </m:oMath>
                  </m:oMathPara>
                </a14:m>
                <a:endParaRPr lang="en-US" altLang="zh-CN"/>
              </a:p>
            </p:txBody>
          </p:sp>
        </mc:Choice>
        <mc:Fallback>
          <p:sp>
            <p:nvSpPr>
              <p:cNvPr id="4" name="文本框 3"/>
              <p:cNvSpPr txBox="1">
                <a:spLocks noRot="1" noChangeAspect="1" noMove="1" noResize="1" noEditPoints="1" noAdjustHandles="1" noChangeArrowheads="1" noChangeShapeType="1" noTextEdit="1"/>
              </p:cNvSpPr>
              <p:nvPr/>
            </p:nvSpPr>
            <p:spPr>
              <a:xfrm>
                <a:off x="1175321" y="1736344"/>
                <a:ext cx="2169795" cy="368300"/>
              </a:xfrm>
              <a:prstGeom prst="rect">
                <a:avLst/>
              </a:prstGeom>
              <a:blipFill rotWithShape="1">
                <a:blip r:embed="rId1"/>
                <a:stretch>
                  <a:fillRect l="-26" t="-69" r="26"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17525" y="2194560"/>
                <a:ext cx="3048000" cy="649605"/>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cos</m:t>
                          </m:r>
                        </m:fName>
                        <m:e>
                          <m:r>
                            <a:rPr lang="en-US" altLang="zh-CN" i="1">
                              <a:latin typeface="Cambria Math" panose="02040503050406030204" charset="0"/>
                              <a:cs typeface="Cambria Math" panose="02040503050406030204" charset="0"/>
                            </a:rPr>
                            <m:t>𝜃</m:t>
                          </m:r>
                        </m:e>
                      </m:func>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num>
                        <m:den>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𝑎</m:t>
                              </m:r>
                            </m:e>
                          </m:d>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𝑏</m:t>
                              </m:r>
                            </m:e>
                          </m:d>
                        </m:den>
                      </m:f>
                    </m:oMath>
                  </m:oMathPara>
                </a14:m>
                <a:endParaRPr lang="en-US" altLang="zh-CN" i="1">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17525" y="2194560"/>
                <a:ext cx="3048000" cy="649605"/>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文本框 6"/>
          <p:cNvSpPr txBox="1"/>
          <p:nvPr/>
        </p:nvSpPr>
        <p:spPr>
          <a:xfrm>
            <a:off x="1175385" y="3199130"/>
            <a:ext cx="4652010" cy="922020"/>
          </a:xfrm>
          <a:prstGeom prst="rect">
            <a:avLst/>
          </a:prstGeom>
          <a:noFill/>
        </p:spPr>
        <p:txBody>
          <a:bodyPr wrap="square" rtlCol="0">
            <a:spAutoFit/>
          </a:bodyPr>
          <a:p>
            <a:pPr algn="l"/>
            <a:r>
              <a:rPr lang="zh-CN" altLang="en-US"/>
              <a:t>把本来空间上没有太多几何关系的向量投影到了一个原点的超球面上，模长都是</a:t>
            </a:r>
            <a:r>
              <a:rPr lang="en-US" altLang="zh-CN"/>
              <a:t>1</a:t>
            </a:r>
            <a:r>
              <a:rPr lang="zh-CN" altLang="en-US"/>
              <a:t>，角度就是描述两个向量之间的最好</a:t>
            </a:r>
            <a:r>
              <a:rPr lang="zh-CN" altLang="en-US"/>
              <a:t>工具</a:t>
            </a:r>
            <a:endParaRPr lang="zh-CN" altLang="en-US"/>
          </a:p>
        </p:txBody>
      </p:sp>
      <p:sp>
        <p:nvSpPr>
          <p:cNvPr id="9" name="文本框 8"/>
          <p:cNvSpPr txBox="1"/>
          <p:nvPr/>
        </p:nvSpPr>
        <p:spPr>
          <a:xfrm>
            <a:off x="1175385" y="4810760"/>
            <a:ext cx="4064000" cy="922020"/>
          </a:xfrm>
          <a:prstGeom prst="rect">
            <a:avLst/>
          </a:prstGeom>
          <a:noFill/>
        </p:spPr>
        <p:txBody>
          <a:bodyPr wrap="square" rtlCol="0">
            <a:spAutoFit/>
          </a:bodyPr>
          <a:p>
            <a:r>
              <a:rPr lang="zh-CN" altLang="en-US"/>
              <a:t>相似度越高夹角越接近</a:t>
            </a:r>
            <a:r>
              <a:rPr lang="en-US" altLang="zh-CN"/>
              <a:t>0</a:t>
            </a:r>
            <a:r>
              <a:rPr lang="zh-CN" altLang="en-US"/>
              <a:t>，结果为</a:t>
            </a:r>
            <a:r>
              <a:rPr lang="en-US" altLang="zh-CN"/>
              <a:t>1</a:t>
            </a:r>
            <a:endParaRPr lang="en-US" altLang="zh-CN"/>
          </a:p>
          <a:p>
            <a:r>
              <a:rPr lang="zh-CN" altLang="en-US"/>
              <a:t>没啥关系夹角垂直，结果为</a:t>
            </a:r>
            <a:r>
              <a:rPr lang="en-US" altLang="zh-CN"/>
              <a:t>0</a:t>
            </a:r>
            <a:endParaRPr lang="en-US" altLang="zh-CN"/>
          </a:p>
          <a:p>
            <a:r>
              <a:rPr lang="zh-CN" altLang="en-US"/>
              <a:t>完全相反就是</a:t>
            </a:r>
            <a:r>
              <a:rPr lang="en-US" altLang="zh-CN"/>
              <a:t>-1</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34720" y="642620"/>
            <a:ext cx="1808480" cy="583565"/>
          </a:xfrm>
          <a:prstGeom prst="rect">
            <a:avLst/>
          </a:prstGeom>
          <a:noFill/>
          <a:ln>
            <a:noFill/>
          </a:ln>
        </p:spPr>
        <p:txBody>
          <a:bodyPr wrap="none" rtlCol="0" anchor="t">
            <a:spAutoFit/>
          </a:bodyPr>
          <a:p>
            <a:pPr algn="ctr"/>
            <a:r>
              <a:rPr lang="zh-CN" altLang="en-US" sz="3200">
                <a:solidFill>
                  <a:schemeClr val="tx1"/>
                </a:solidFill>
                <a:effectLst>
                  <a:outerShdw blurRad="38100" dist="19050" dir="2700000" algn="tl" rotWithShape="0">
                    <a:schemeClr val="dk1">
                      <a:alpha val="40000"/>
                    </a:schemeClr>
                  </a:outerShdw>
                </a:effectLst>
              </a:rPr>
              <a:t>损失函数</a:t>
            </a:r>
            <a:endParaRPr lang="zh-CN" altLang="en-US" sz="320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mc:Choice xmlns:a14="http://schemas.microsoft.com/office/drawing/2010/main" Requires="a14">
          <p:sp>
            <p:nvSpPr>
              <p:cNvPr id="4" name="文本框 3"/>
              <p:cNvSpPr txBox="1"/>
              <p:nvPr/>
            </p:nvSpPr>
            <p:spPr>
              <a:xfrm>
                <a:off x="1124585" y="1516380"/>
                <a:ext cx="5494020" cy="94170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𝐴𝑟𝑐𝐹</m:t>
                      </m:r>
                      <m:r>
                        <a:rPr lang="en-US" altLang="zh-CN" i="1">
                          <a:latin typeface="Cambria Math" panose="02040503050406030204" charset="0"/>
                          <a:cs typeface="Cambria Math" panose="02040503050406030204" charset="0"/>
                        </a:rPr>
                        <m:t>𝑎𝑐𝑒𝐿𝑜𝑠𝑠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r>
                            <a:rPr lang="en-US" altLang="zh-CN" i="1">
                              <a:latin typeface="Cambria Math" panose="02040503050406030204" charset="0"/>
                              <a:cs typeface="Cambria Math" panose="02040503050406030204" charset="0"/>
                            </a:rPr>
                            <m:t>𝑙𝑜𝑔</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e>
                                  </m:d>
                                </m:sup>
                              </m:sSup>
                            </m:num>
                            <m:den>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e>
                                  </m:d>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𝑗</m:t>
                                                  </m:r>
                                                </m:sub>
                                              </m:sSub>
                                            </m:e>
                                          </m:d>
                                        </m:sup>
                                      </m:sSup>
                                    </m:e>
                                  </m:nary>
                                </m:sup>
                              </m:sSup>
                            </m:den>
                          </m:f>
                        </m:e>
                      </m:nary>
                    </m:oMath>
                  </m:oMathPara>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124585" y="1516380"/>
                <a:ext cx="5494020" cy="94170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98805" y="3001010"/>
                <a:ext cx="3390900" cy="77216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𝑠𝑜𝑓𝑡𝑚𝑎𝑥</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𝑖</m:t>
                                  </m:r>
                                </m:sub>
                              </m:sSub>
                            </m:sup>
                          </m:sSup>
                        </m:num>
                        <m:den>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𝐾</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𝑗</m:t>
                                      </m:r>
                                    </m:sub>
                                  </m:sSub>
                                </m:sup>
                              </m:sSup>
                            </m:e>
                          </m:nary>
                        </m:den>
                      </m:f>
                    </m:oMath>
                  </m:oMathPara>
                </a14:m>
                <a:endParaRPr lang="en-US" altLang="zh-CN" i="1">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98805" y="3001010"/>
                <a:ext cx="3390900" cy="772160"/>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立方体 6"/>
          <p:cNvSpPr/>
          <p:nvPr/>
        </p:nvSpPr>
        <p:spPr>
          <a:xfrm>
            <a:off x="4178935" y="2967990"/>
            <a:ext cx="965835" cy="66421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4342130" y="3202940"/>
                <a:ext cx="625475" cy="36830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1</m:t>
                          </m:r>
                        </m:sub>
                      </m:sSub>
                    </m:oMath>
                  </m:oMathPara>
                </a14:m>
                <a:endParaRPr lang="en-US" altLang="zh-CN" i="1">
                  <a:latin typeface="Cambria Math" panose="02040503050406030204" charset="0"/>
                  <a:cs typeface="Cambria Math" panose="02040503050406030204"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4342130" y="3202940"/>
                <a:ext cx="625475" cy="368300"/>
              </a:xfrm>
              <a:prstGeom prst="rect">
                <a:avLst/>
              </a:prstGeom>
              <a:blipFill rotWithShape="1">
                <a:blip r:embed="rId3"/>
                <a:stretch>
                  <a:fillRect/>
                </a:stretch>
              </a:blipFill>
            </p:spPr>
            <p:txBody>
              <a:bodyPr/>
              <a:lstStyle/>
              <a:p>
                <a:r>
                  <a:rPr lang="zh-CN" altLang="en-US">
                    <a:noFill/>
                  </a:rPr>
                  <a:t> </a:t>
                </a:r>
              </a:p>
            </p:txBody>
          </p:sp>
        </mc:Fallback>
      </mc:AlternateContent>
      <p:sp>
        <p:nvSpPr>
          <p:cNvPr id="32" name="立方体 31"/>
          <p:cNvSpPr/>
          <p:nvPr/>
        </p:nvSpPr>
        <p:spPr>
          <a:xfrm>
            <a:off x="4987925" y="2967990"/>
            <a:ext cx="965835" cy="66421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3" name="文本框 32"/>
              <p:cNvSpPr txBox="1"/>
              <p:nvPr/>
            </p:nvSpPr>
            <p:spPr>
              <a:xfrm>
                <a:off x="5151120" y="3202940"/>
                <a:ext cx="625475" cy="36830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2</m:t>
                          </m:r>
                        </m:sub>
                      </m:sSub>
                    </m:oMath>
                  </m:oMathPara>
                </a14:m>
                <a:endParaRPr lang="en-US" altLang="zh-CN" i="1">
                  <a:latin typeface="Cambria Math" panose="02040503050406030204" charset="0"/>
                  <a:cs typeface="Cambria Math" panose="02040503050406030204"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5151120" y="3202940"/>
                <a:ext cx="625475"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8379396" y="3203194"/>
                <a:ext cx="1278890"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𝑤𝑥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oMath>
                  </m:oMathPara>
                </a14:m>
                <a:endParaRPr lang="zh-CN" altLang="en-US"/>
              </a:p>
            </p:txBody>
          </p:sp>
        </mc:Choice>
        <mc:Fallback>
          <p:sp>
            <p:nvSpPr>
              <p:cNvPr id="35" name="文本框 34"/>
              <p:cNvSpPr txBox="1">
                <a:spLocks noRot="1" noChangeAspect="1" noMove="1" noResize="1" noEditPoints="1" noAdjustHandles="1" noChangeArrowheads="1" noChangeShapeType="1" noTextEdit="1"/>
              </p:cNvSpPr>
              <p:nvPr/>
            </p:nvSpPr>
            <p:spPr>
              <a:xfrm>
                <a:off x="8379396" y="3203194"/>
                <a:ext cx="1278890" cy="368300"/>
              </a:xfrm>
              <a:prstGeom prst="rect">
                <a:avLst/>
              </a:prstGeom>
              <a:blipFill rotWithShape="1">
                <a:blip r:embed="rId5"/>
                <a:stretch>
                  <a:fillRect l="-45" t="-69" r="45" b="69"/>
                </a:stretch>
              </a:blipFill>
            </p:spPr>
            <p:txBody>
              <a:bodyPr/>
              <a:lstStyle/>
              <a:p>
                <a:r>
                  <a:rPr lang="zh-CN" altLang="en-US">
                    <a:noFill/>
                  </a:rPr>
                  <a:t> </a:t>
                </a:r>
              </a:p>
            </p:txBody>
          </p:sp>
        </mc:Fallback>
      </mc:AlternateContent>
      <p:sp>
        <p:nvSpPr>
          <p:cNvPr id="38" name="立方体 37"/>
          <p:cNvSpPr/>
          <p:nvPr/>
        </p:nvSpPr>
        <p:spPr>
          <a:xfrm>
            <a:off x="6724650" y="2967990"/>
            <a:ext cx="965835" cy="664210"/>
          </a:xfrm>
          <a:prstGeom prst="cub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41" name="文本框 40"/>
              <p:cNvSpPr txBox="1"/>
              <p:nvPr/>
            </p:nvSpPr>
            <p:spPr>
              <a:xfrm>
                <a:off x="6819265" y="3202940"/>
                <a:ext cx="625475" cy="36830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𝐾</m:t>
                          </m:r>
                        </m:sub>
                      </m:sSub>
                    </m:oMath>
                  </m:oMathPara>
                </a14:m>
                <a:endParaRPr lang="en-US" altLang="zh-CN" i="1">
                  <a:latin typeface="Cambria Math" panose="02040503050406030204" charset="0"/>
                  <a:cs typeface="Cambria Math" panose="02040503050406030204" charset="0"/>
                </a:endParaRPr>
              </a:p>
            </p:txBody>
          </p:sp>
        </mc:Choice>
        <mc:Fallback>
          <p:sp>
            <p:nvSpPr>
              <p:cNvPr id="41" name="文本框 40"/>
              <p:cNvSpPr txBox="1">
                <a:spLocks noRot="1" noChangeAspect="1" noMove="1" noResize="1" noEditPoints="1" noAdjustHandles="1" noChangeArrowheads="1" noChangeShapeType="1" noTextEdit="1"/>
              </p:cNvSpPr>
              <p:nvPr/>
            </p:nvSpPr>
            <p:spPr>
              <a:xfrm>
                <a:off x="6819265" y="3202940"/>
                <a:ext cx="625475" cy="368300"/>
              </a:xfrm>
              <a:prstGeom prst="rect">
                <a:avLst/>
              </a:prstGeom>
              <a:blipFill rotWithShape="1">
                <a:blip r:embed="rId6"/>
                <a:stretch>
                  <a:fillRect/>
                </a:stretch>
              </a:blipFill>
            </p:spPr>
            <p:txBody>
              <a:bodyPr/>
              <a:lstStyle/>
              <a:p>
                <a:r>
                  <a:rPr lang="zh-CN" altLang="en-US">
                    <a:noFill/>
                  </a:rPr>
                  <a:t> </a:t>
                </a:r>
              </a:p>
            </p:txBody>
          </p:sp>
        </mc:Fallback>
      </mc:AlternateContent>
      <p:sp>
        <p:nvSpPr>
          <p:cNvPr id="42" name="文本框 41"/>
          <p:cNvSpPr txBox="1"/>
          <p:nvPr/>
        </p:nvSpPr>
        <p:spPr>
          <a:xfrm>
            <a:off x="6049010" y="3202940"/>
            <a:ext cx="675005" cy="368300"/>
          </a:xfrm>
          <a:prstGeom prst="rect">
            <a:avLst/>
          </a:prstGeom>
          <a:noFill/>
        </p:spPr>
        <p:txBody>
          <a:bodyPr wrap="square" rtlCol="0" anchor="t">
            <a:spAutoFit/>
          </a:bodyPr>
          <a:p>
            <a:r>
              <a:rPr lang="zh-CN" altLang="en-US">
                <a:latin typeface="Arial" panose="020B0604020202020204" pitchFamily="34" charset="0"/>
                <a:cs typeface="Arial" panose="020B0604020202020204" pitchFamily="34" charset="0"/>
              </a:rPr>
              <a:t>······</a:t>
            </a:r>
            <a:endParaRPr lang="zh-CN" altLang="en-US">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3" name="文本框 42"/>
              <p:cNvSpPr txBox="1"/>
              <p:nvPr/>
            </p:nvSpPr>
            <p:spPr>
              <a:xfrm>
                <a:off x="191770" y="5537200"/>
                <a:ext cx="9893935" cy="144081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𝑠𝑜𝑓𝑡𝑚𝑎𝑥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𝑐𝑟𝑜𝑠𝑠𝑒𝑛𝑡𝑟𝑜𝑝𝑦</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r>
                            <a:rPr lang="en-US" altLang="zh-CN" i="1">
                              <a:latin typeface="Cambria Math" panose="02040503050406030204" charset="0"/>
                              <a:cs typeface="Cambria Math" panose="02040503050406030204" charset="0"/>
                            </a:rPr>
                            <m:t>𝑙𝑜𝑔</m:t>
                          </m:r>
                          <m:d>
                            <m:dPr>
                              <m:ctrlPr>
                                <a:rPr lang="en-US" altLang="zh-CN" i="1">
                                  <a:latin typeface="Cambria Math" panose="02040503050406030204" charset="0"/>
                                  <a:cs typeface="Cambria Math" panose="02040503050406030204" charset="0"/>
                                </a:rPr>
                              </m:ctrlPr>
                            </m:dPr>
                            <m:e>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𝑖</m:t>
                                          </m:r>
                                        </m:sub>
                                      </m:sSub>
                                    </m:sup>
                                  </m:sSup>
                                </m:num>
                                <m:den>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𝐾</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𝑗</m:t>
                                              </m:r>
                                            </m:sub>
                                          </m:sSub>
                                        </m:sup>
                                      </m:sSup>
                                    </m:e>
                                  </m:nary>
                                </m:den>
                              </m:f>
                            </m:e>
                          </m:d>
                        </m:e>
                      </m:nary>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r>
                            <a:rPr lang="en-US" altLang="zh-CN" i="1">
                              <a:latin typeface="Cambria Math" panose="02040503050406030204" charset="0"/>
                              <a:cs typeface="Cambria Math" panose="02040503050406030204" charset="0"/>
                            </a:rPr>
                            <m:t>𝑙𝑜𝑔</m:t>
                          </m:r>
                          <m:d>
                            <m:dPr>
                              <m:ctrlPr>
                                <a:rPr lang="en-US" altLang="zh-CN" i="1">
                                  <a:latin typeface="Cambria Math" panose="02040503050406030204" charset="0"/>
                                  <a:cs typeface="Cambria Math" panose="02040503050406030204" charset="0"/>
                                </a:rPr>
                              </m:ctrlPr>
                            </m:dPr>
                            <m:e>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𝑤𝑥</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sup>
                                  </m:sSup>
                                </m:num>
                                <m:den>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𝐾</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𝑤𝑥</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sup>
                                      </m:sSup>
                                    </m:e>
                                  </m:nary>
                                </m:den>
                              </m:f>
                            </m:e>
                          </m:d>
                        </m:e>
                      </m:nary>
                    </m:oMath>
                  </m:oMathPara>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p:txBody>
          </p:sp>
        </mc:Choice>
        <mc:Fallback>
          <p:sp>
            <p:nvSpPr>
              <p:cNvPr id="43" name="文本框 42"/>
              <p:cNvSpPr txBox="1">
                <a:spLocks noRot="1" noChangeAspect="1" noMove="1" noResize="1" noEditPoints="1" noAdjustHandles="1" noChangeArrowheads="1" noChangeShapeType="1" noTextEdit="1"/>
              </p:cNvSpPr>
              <p:nvPr/>
            </p:nvSpPr>
            <p:spPr>
              <a:xfrm>
                <a:off x="191770" y="5537200"/>
                <a:ext cx="9893935" cy="144081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934720" y="4352925"/>
                <a:ext cx="3763010" cy="87503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𝑐𝑟𝑜𝑠𝑠𝑒𝑛𝑡𝑟𝑜𝑝𝑦</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r>
                            <a:rPr lang="en-US" altLang="zh-CN" i="1">
                              <a:latin typeface="Cambria Math" panose="02040503050406030204" charset="0"/>
                              <a:cs typeface="Cambria Math" panose="02040503050406030204" charset="0"/>
                            </a:rPr>
                            <m:t>𝑙𝑜𝑔</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zh-CN" altLang="en-US" i="1">
                                      <a:latin typeface="Cambria Math" panose="02040503050406030204" charset="0"/>
                                      <a:cs typeface="Cambria Math" panose="02040503050406030204" charset="0"/>
                                    </a:rPr>
                                    <m:t>正</m:t>
                                  </m:r>
                                </m:sub>
                              </m:sSub>
                            </m:e>
                          </m:d>
                        </m:e>
                      </m:nary>
                    </m:oMath>
                  </m:oMathPara>
                </a14:m>
                <a:endParaRPr lang="en-US" altLang="zh-CN" i="1">
                  <a:latin typeface="Cambria Math" panose="02040503050406030204" charset="0"/>
                  <a:cs typeface="Cambria Math" panose="02040503050406030204" charset="0"/>
                </a:endParaRPr>
              </a:p>
            </p:txBody>
          </p:sp>
        </mc:Choice>
        <mc:Fallback>
          <p:sp>
            <p:nvSpPr>
              <p:cNvPr id="44" name="文本框 43"/>
              <p:cNvSpPr txBox="1">
                <a:spLocks noRot="1" noChangeAspect="1" noMove="1" noResize="1" noEditPoints="1" noAdjustHandles="1" noChangeArrowheads="1" noChangeShapeType="1" noTextEdit="1"/>
              </p:cNvSpPr>
              <p:nvPr/>
            </p:nvSpPr>
            <p:spPr>
              <a:xfrm>
                <a:off x="934720" y="4352925"/>
                <a:ext cx="3763010" cy="875030"/>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4" name="文本框 3"/>
              <p:cNvSpPr txBox="1"/>
              <p:nvPr/>
            </p:nvSpPr>
            <p:spPr>
              <a:xfrm>
                <a:off x="379730" y="633095"/>
                <a:ext cx="3835400" cy="94551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e>
                              </m:d>
                            </m:sup>
                          </m:sSup>
                        </m:num>
                        <m:den>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e>
                              </m:d>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𝑗</m:t>
                                              </m:r>
                                            </m:sub>
                                          </m:sSub>
                                        </m:e>
                                      </m:d>
                                    </m:sup>
                                  </m:sSup>
                                </m:e>
                              </m:nary>
                            </m:sup>
                          </m:sSup>
                        </m:den>
                      </m:f>
                    </m:oMath>
                  </m:oMathPara>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79730" y="633095"/>
                <a:ext cx="3835400" cy="94551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819785" y="2073275"/>
                <a:ext cx="3835400" cy="94551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e>
                              </m:d>
                            </m:sup>
                          </m:sSup>
                        </m:num>
                        <m:den>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e>
                              </m:d>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𝑗</m:t>
                                              </m:r>
                                            </m:sub>
                                          </m:sSub>
                                        </m:e>
                                      </m:d>
                                    </m:sup>
                                  </m:sSup>
                                </m:e>
                              </m:nary>
                            </m:sup>
                          </m:sSup>
                        </m:den>
                      </m:f>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𝑖</m:t>
                                      </m:r>
                                    </m:sub>
                                  </m:sSub>
                                </m:e>
                              </m:d>
                            </m:sup>
                          </m:sSup>
                        </m:num>
                        <m:den>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𝐾</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𝑗</m:t>
                                          </m:r>
                                        </m:sub>
                                      </m:sSub>
                                    </m:e>
                                  </m:d>
                                </m:sup>
                              </m:sSup>
                            </m:e>
                          </m:nary>
                        </m:den>
                      </m:f>
                    </m:oMath>
                  </m:oMathPara>
                </a14:m>
                <a:endParaRPr lang="en-US" altLang="zh-CN" i="1">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819785" y="2073275"/>
                <a:ext cx="3835400" cy="94551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078730" y="2362200"/>
                <a:ext cx="3399155" cy="937260"/>
              </a:xfrm>
              <a:prstGeom prst="rect">
                <a:avLst/>
              </a:prstGeom>
              <a:noFill/>
            </p:spPr>
            <p:txBody>
              <a:bodyPr wrap="square" rtlCol="0" anchor="t">
                <a:spAutoFit/>
              </a:bodyPr>
              <a:p>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𝑖</m:t>
                              </m:r>
                            </m:sub>
                          </m:sSub>
                        </m:e>
                      </m:d>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zh-CN" altLang="en-US" i="1">
                                  <a:latin typeface="Cambria Math" panose="02040503050406030204" charset="0"/>
                                  <a:cs typeface="Cambria Math" panose="02040503050406030204" charset="0"/>
                                </a:rPr>
                                <m:t>类心</m:t>
                              </m:r>
                            </m:sub>
                          </m:sSub>
                        </m:num>
                        <m:den>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𝑧</m:t>
                              </m:r>
                            </m:e>
                          </m:d>
                          <m:d>
                            <m:dPr>
                              <m:begChr m:val="‖"/>
                              <m:endChr m:val="‖"/>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zh-CN" altLang="en-US" i="1">
                                      <a:latin typeface="Cambria Math" panose="02040503050406030204" charset="0"/>
                                      <a:cs typeface="Cambria Math" panose="02040503050406030204" charset="0"/>
                                    </a:rPr>
                                    <m:t>类心</m:t>
                                  </m:r>
                                </m:sub>
                              </m:sSub>
                            </m:e>
                          </m:d>
                        </m:den>
                      </m:f>
                    </m:oMath>
                  </m:oMathPara>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078730" y="2362200"/>
                <a:ext cx="3399155" cy="93726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440055" y="3992245"/>
                <a:ext cx="3086100" cy="83312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𝑖</m:t>
                                      </m:r>
                                    </m:sub>
                                  </m:sSub>
                                </m:e>
                              </m:d>
                            </m:sup>
                          </m:sSup>
                        </m:num>
                        <m:den>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𝐾</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𝑗</m:t>
                                          </m:r>
                                        </m:sub>
                                      </m:sSub>
                                    </m:e>
                                  </m:d>
                                </m:sup>
                              </m:sSup>
                            </m:e>
                          </m:nary>
                        </m:den>
                      </m:f>
                    </m:oMath>
                  </m:oMathPara>
                </a14:m>
                <a:endParaRPr lang="en-US" altLang="zh-CN" i="1">
                  <a:latin typeface="Cambria Math" panose="02040503050406030204" charset="0"/>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440055" y="3992245"/>
                <a:ext cx="3086100" cy="83312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3334385" y="3992245"/>
                <a:ext cx="6414135" cy="645160"/>
              </a:xfrm>
              <a:prstGeom prst="rect">
                <a:avLst/>
              </a:prstGeom>
              <a:noFill/>
            </p:spPr>
            <p:txBody>
              <a:bodyPr wrap="square" rtlCol="0">
                <a:spAutoFit/>
              </a:bodyPr>
              <a:p>
                <a14:m>
                  <m:oMath xmlns:m="http://schemas.openxmlformats.org/officeDocument/2006/math">
                    <m:r>
                      <a:rPr lang="en-US" altLang="zh-CN" i="1">
                        <a:latin typeface="Cambria Math" panose="02040503050406030204" charset="0"/>
                        <a:cs typeface="Cambria Math" panose="02040503050406030204" charset="0"/>
                      </a:rPr>
                      <m:t>𝑐𝑜𝑠</m:t>
                    </m:r>
                    <m:d>
                      <m:dPr>
                        <m:ctrlPr>
                          <a:rPr lang="en-US" altLang="zh-CN" i="1">
                            <a:latin typeface="Cambria Math" panose="02040503050406030204" charset="0"/>
                            <a:cs typeface="Cambria Math" panose="02040503050406030204" charset="0"/>
                          </a:rPr>
                        </m:ctrlPr>
                      </m:d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r>
                              <a:rPr lang="en-US" altLang="zh-CN" i="1">
                                <a:latin typeface="Cambria Math" panose="02040503050406030204" charset="0"/>
                                <a:cs typeface="Cambria Math" panose="02040503050406030204" charset="0"/>
                              </a:rPr>
                              <m:t>𝑖</m:t>
                            </m:r>
                          </m:sub>
                        </m:sSub>
                      </m:e>
                    </m:d>
                  </m:oMath>
                </a14:m>
                <a:r>
                  <a:rPr lang="zh-CN" altLang="en-US"/>
                  <a:t>范围是</a:t>
                </a:r>
                <a:r>
                  <a:rPr lang="en-US" altLang="zh-CN"/>
                  <a:t>-1</a:t>
                </a:r>
                <a:r>
                  <a:rPr lang="zh-CN" altLang="en-US"/>
                  <a:t>到</a:t>
                </a:r>
                <a:r>
                  <a:rPr lang="en-US" altLang="zh-CN"/>
                  <a:t>1</a:t>
                </a:r>
                <a:r>
                  <a:rPr lang="zh-CN" altLang="en-US"/>
                  <a:t>对于指数函数</a:t>
                </a:r>
                <a14:m>
                  <m:oMath xmlns:m="http://schemas.openxmlformats.org/officeDocument/2006/math">
                    <m:r>
                      <a:rPr lang="en-US" altLang="zh-CN" i="1">
                        <a:latin typeface="Cambria Math" panose="02040503050406030204" charset="0"/>
                        <a:cs typeface="Cambria Math" panose="02040503050406030204" charset="0"/>
                      </a:rPr>
                      <m:t>𝑒</m:t>
                    </m:r>
                  </m:oMath>
                </a14:m>
                <a:r>
                  <a:rPr lang="zh-CN" altLang="en-US">
                    <a:latin typeface="Cambria Math" panose="02040503050406030204" charset="0"/>
                    <a:cs typeface="Cambria Math" panose="02040503050406030204" charset="0"/>
                  </a:rPr>
                  <a:t>也就是</a:t>
                </a:r>
                <a:r>
                  <a:rPr lang="en-US" altLang="zh-CN">
                    <a:latin typeface="Cambria Math" panose="02040503050406030204" charset="0"/>
                    <a:cs typeface="Cambria Math" panose="02040503050406030204" charset="0"/>
                  </a:rPr>
                  <a:t>0.3678</a:t>
                </a:r>
                <a:r>
                  <a:rPr lang="zh-CN" altLang="en-US">
                    <a:latin typeface="Cambria Math" panose="02040503050406030204" charset="0"/>
                    <a:cs typeface="Cambria Math" panose="02040503050406030204" charset="0"/>
                  </a:rPr>
                  <a:t>到</a:t>
                </a:r>
                <a:r>
                  <a:rPr lang="en-US" altLang="zh-CN">
                    <a:latin typeface="Cambria Math" panose="02040503050406030204" charset="0"/>
                    <a:cs typeface="Cambria Math" panose="02040503050406030204" charset="0"/>
                  </a:rPr>
                  <a:t>2.7182</a:t>
                </a:r>
                <a:r>
                  <a:rPr lang="zh-CN" altLang="en-US">
                    <a:latin typeface="Cambria Math" panose="02040503050406030204" charset="0"/>
                    <a:cs typeface="Cambria Math" panose="02040503050406030204" charset="0"/>
                  </a:rPr>
                  <a:t>的范围，太小了，给个比例系数</a:t>
                </a:r>
                <a:r>
                  <a:rPr lang="en-US" altLang="zh-CN">
                    <a:latin typeface="Cambria Math" panose="02040503050406030204" charset="0"/>
                    <a:cs typeface="Cambria Math" panose="02040503050406030204" charset="0"/>
                  </a:rPr>
                  <a:t>s</a:t>
                </a:r>
                <a:r>
                  <a:rPr lang="zh-CN" altLang="en-US">
                    <a:latin typeface="Cambria Math" panose="02040503050406030204" charset="0"/>
                    <a:cs typeface="Cambria Math" panose="02040503050406030204" charset="0"/>
                  </a:rPr>
                  <a:t>缩放一下尺度，让结果明显</a:t>
                </a:r>
                <a:r>
                  <a:rPr lang="zh-CN" altLang="en-US">
                    <a:latin typeface="Cambria Math" panose="02040503050406030204" charset="0"/>
                    <a:cs typeface="Cambria Math" panose="02040503050406030204" charset="0"/>
                  </a:rPr>
                  <a:t>一点</a:t>
                </a:r>
                <a:endParaRPr lang="zh-CN" altLang="en-US">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3334385" y="3992245"/>
                <a:ext cx="6414135" cy="64516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249045" y="5641975"/>
                <a:ext cx="1287145" cy="36131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𝜃</m:t>
                          </m:r>
                        </m:e>
                        <m: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m:t>
                              </m:r>
                            </m:sub>
                          </m:sSub>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oMath>
                  </m:oMathPara>
                </a14:m>
                <a:endParaRPr lang="en-US" altLang="zh-CN" i="1">
                  <a:latin typeface="Cambria Math" panose="02040503050406030204" charset="0"/>
                  <a:cs typeface="Cambria Math" panose="02040503050406030204"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1249045" y="5641975"/>
                <a:ext cx="1287145" cy="36131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3334385" y="5499735"/>
                <a:ext cx="4636770" cy="645160"/>
              </a:xfrm>
              <a:prstGeom prst="rect">
                <a:avLst/>
              </a:prstGeom>
              <a:noFill/>
            </p:spPr>
            <p:txBody>
              <a:bodyPr wrap="square" rtlCol="0">
                <a:spAutoFit/>
              </a:bodyPr>
              <a:p>
                <a14:m>
                  <m:oMath xmlns:m="http://schemas.openxmlformats.org/officeDocument/2006/math">
                    <m:r>
                      <a:rPr lang="en-US" altLang="zh-CN" i="1">
                        <a:latin typeface="Cambria Math" panose="02040503050406030204" charset="0"/>
                        <a:ea typeface="MS Mincho" charset="0"/>
                        <a:cs typeface="Cambria Math" panose="02040503050406030204" charset="0"/>
                      </a:rPr>
                      <m:t>𝑚</m:t>
                    </m:r>
                  </m:oMath>
                </a14:m>
                <a:r>
                  <a:rPr lang="zh-CN" altLang="en-US">
                    <a:latin typeface="Cambria Math" panose="02040503050406030204" charset="0"/>
                    <a:cs typeface="Cambria Math" panose="02040503050406030204" charset="0"/>
                  </a:rPr>
                  <a:t>相当于加了个</a:t>
                </a:r>
                <a:r>
                  <a:rPr lang="zh-CN" altLang="en-US">
                    <a:latin typeface="Cambria Math" panose="02040503050406030204" charset="0"/>
                    <a:cs typeface="Cambria Math" panose="02040503050406030204" charset="0"/>
                  </a:rPr>
                  <a:t>边界必须拉到这个范围内才行，就相当于更加聚拢了</a:t>
                </a:r>
                <a:endParaRPr lang="zh-CN" altLang="en-US">
                  <a:latin typeface="Cambria Math" panose="02040503050406030204" charset="0"/>
                  <a:cs typeface="Cambria Math" panose="02040503050406030204"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3334385" y="5499735"/>
                <a:ext cx="4636770" cy="645160"/>
              </a:xfrm>
              <a:prstGeom prst="rect">
                <a:avLst/>
              </a:prstGeom>
              <a:blipFill rotWithShape="1">
                <a:blip r:embed="rId7"/>
                <a:stretch>
                  <a:fillRect/>
                </a:stretch>
              </a:blipFill>
            </p:spPr>
            <p:txBody>
              <a:bodyPr/>
              <a:lstStyle/>
              <a:p>
                <a:r>
                  <a:rPr lang="zh-CN" altLang="en-US">
                    <a:noFill/>
                  </a:rPr>
                  <a:t> </a:t>
                </a:r>
              </a:p>
            </p:txBody>
          </p:sp>
        </mc:Fallback>
      </mc:AlternateContent>
      <p:pic>
        <p:nvPicPr>
          <p:cNvPr id="13" name="图片 12"/>
          <p:cNvPicPr>
            <a:picLocks noChangeAspect="1"/>
          </p:cNvPicPr>
          <p:nvPr/>
        </p:nvPicPr>
        <p:blipFill>
          <a:blip r:embed="rId8"/>
          <a:stretch>
            <a:fillRect/>
          </a:stretch>
        </p:blipFill>
        <p:spPr>
          <a:xfrm>
            <a:off x="8596630" y="4844415"/>
            <a:ext cx="1779270" cy="14331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238250" y="2466975"/>
            <a:ext cx="5307330" cy="3143885"/>
          </a:xfrm>
          <a:prstGeom prst="rect">
            <a:avLst/>
          </a:prstGeom>
        </p:spPr>
      </p:pic>
      <p:sp>
        <p:nvSpPr>
          <p:cNvPr id="5" name="矩形 4"/>
          <p:cNvSpPr/>
          <p:nvPr/>
        </p:nvSpPr>
        <p:spPr>
          <a:xfrm>
            <a:off x="934720" y="642620"/>
            <a:ext cx="1808480" cy="583565"/>
          </a:xfrm>
          <a:prstGeom prst="rect">
            <a:avLst/>
          </a:prstGeom>
          <a:noFill/>
          <a:ln>
            <a:noFill/>
          </a:ln>
        </p:spPr>
        <p:txBody>
          <a:bodyPr wrap="none" rtlCol="0" anchor="t">
            <a:spAutoFit/>
          </a:bodyPr>
          <a:p>
            <a:pPr algn="ctr"/>
            <a:r>
              <a:rPr lang="zh-CN" altLang="en-US" sz="3200">
                <a:solidFill>
                  <a:schemeClr val="tx1"/>
                </a:solidFill>
                <a:effectLst>
                  <a:outerShdw blurRad="38100" dist="19050" dir="2700000" algn="tl" rotWithShape="0">
                    <a:schemeClr val="dk1">
                      <a:alpha val="40000"/>
                    </a:schemeClr>
                  </a:outerShdw>
                </a:effectLst>
              </a:rPr>
              <a:t>三角函数</a:t>
            </a:r>
            <a:endParaRPr lang="zh-CN" altLang="en-US" sz="320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mc:Choice xmlns:a14="http://schemas.microsoft.com/office/drawing/2010/main" Requires="a14">
          <p:sp>
            <p:nvSpPr>
              <p:cNvPr id="7" name="文本框 6"/>
              <p:cNvSpPr txBox="1"/>
              <p:nvPr/>
            </p:nvSpPr>
            <p:spPr>
              <a:xfrm>
                <a:off x="1333500" y="1662430"/>
                <a:ext cx="3958590" cy="36830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cos</m:t>
                          </m:r>
                        </m:fName>
                        <m:e>
                          <m:d>
                            <m:dPr>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e>
                          </m:d>
                        </m:e>
                      </m:func>
                      <m:r>
                        <a:rPr lang="en-US" altLang="zh-CN" i="1">
                          <a:latin typeface="Cambria Math" panose="02040503050406030204" charset="0"/>
                          <a:cs typeface="Cambria Math" panose="02040503050406030204" charset="0"/>
                        </a:rPr>
                        <m:t>=</m:t>
                      </m:r>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cos</m:t>
                          </m:r>
                        </m:fName>
                        <m:e>
                          <m:r>
                            <a:rPr lang="en-US" altLang="zh-CN" i="1">
                              <a:latin typeface="Cambria Math" panose="02040503050406030204" charset="0"/>
                              <a:cs typeface="Cambria Math" panose="02040503050406030204" charset="0"/>
                            </a:rPr>
                            <m:t>𝜃</m:t>
                          </m:r>
                        </m:e>
                      </m:func>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cos</m:t>
                          </m:r>
                        </m:fName>
                        <m:e>
                          <m:r>
                            <a:rPr lang="en-US" altLang="zh-CN" i="1">
                              <a:latin typeface="Cambria Math" panose="02040503050406030204" charset="0"/>
                              <a:cs typeface="Cambria Math" panose="02040503050406030204" charset="0"/>
                            </a:rPr>
                            <m:t>𝑚</m:t>
                          </m:r>
                        </m:e>
                      </m:func>
                      <m:r>
                        <a:rPr lang="en-US" altLang="zh-CN" i="1">
                          <a:latin typeface="Cambria Math" panose="02040503050406030204" charset="0"/>
                          <a:cs typeface="Cambria Math" panose="02040503050406030204" charset="0"/>
                        </a:rPr>
                        <m:t>−</m:t>
                      </m:r>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sin</m:t>
                          </m:r>
                        </m:fName>
                        <m:e>
                          <m:r>
                            <a:rPr lang="en-US" altLang="zh-CN" i="1">
                              <a:latin typeface="Cambria Math" panose="02040503050406030204" charset="0"/>
                              <a:cs typeface="Cambria Math" panose="02040503050406030204" charset="0"/>
                            </a:rPr>
                            <m:t>𝜃</m:t>
                          </m:r>
                        </m:e>
                      </m:func>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sin</m:t>
                          </m:r>
                        </m:fName>
                        <m:e>
                          <m:r>
                            <a:rPr lang="en-US" altLang="zh-CN" i="1">
                              <a:latin typeface="Cambria Math" panose="02040503050406030204" charset="0"/>
                              <a:cs typeface="Cambria Math" panose="02040503050406030204" charset="0"/>
                            </a:rPr>
                            <m:t>𝑚</m:t>
                          </m:r>
                        </m:e>
                      </m:func>
                    </m:oMath>
                  </m:oMathPara>
                </a14:m>
                <a:endParaRPr lang="en-US" altLang="zh-CN" i="1">
                  <a:latin typeface="Cambria Math" panose="02040503050406030204" charset="0"/>
                  <a:cs typeface="Cambria Math" panose="0204050305040603020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333500" y="1662430"/>
                <a:ext cx="3958590" cy="36830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tags/tag1.xml><?xml version="1.0" encoding="utf-8"?>
<p:tagLst xmlns:p="http://schemas.openxmlformats.org/presentationml/2006/main">
  <p:tag name="KSO_WM_DIAGRAM_VIRTUALLY_FRAME" val="{&quot;height&quot;:288.85,&quot;left&quot;:153.3,&quot;top&quot;:109.55,&quot;width&quot;:289.45}"/>
</p:tagLst>
</file>

<file path=ppt/tags/tag2.xml><?xml version="1.0" encoding="utf-8"?>
<p:tagLst xmlns:p="http://schemas.openxmlformats.org/presentationml/2006/main">
  <p:tag name="KSO_WM_DIAGRAM_VIRTUALLY_FRAME" val="{&quot;height&quot;:288.85,&quot;left&quot;:153.3,&quot;top&quot;:109.55,&quot;width&quot;:289.45}"/>
</p:tagLst>
</file>

<file path=ppt/tags/tag3.xml><?xml version="1.0" encoding="utf-8"?>
<p:tagLst xmlns:p="http://schemas.openxmlformats.org/presentationml/2006/main">
  <p:tag name="KSO_WM_DIAGRAM_VIRTUALLY_FRAME" val="{&quot;height&quot;:288.85,&quot;left&quot;:153.3,&quot;top&quot;:109.55,&quot;width&quot;:289.45}"/>
</p:tagLst>
</file>

<file path=ppt/tags/tag4.xml><?xml version="1.0" encoding="utf-8"?>
<p:tagLst xmlns:p="http://schemas.openxmlformats.org/presentationml/2006/main">
  <p:tag name="KSO_WM_DIAGRAM_VIRTUALLY_FRAME" val="{&quot;height&quot;:288.85,&quot;left&quot;:153.3,&quot;top&quot;:109.55,&quot;width&quot;:289.45}"/>
</p:tagLst>
</file>

<file path=ppt/tags/tag5.xml><?xml version="1.0" encoding="utf-8"?>
<p:tagLst xmlns:p="http://schemas.openxmlformats.org/presentationml/2006/main">
  <p:tag name="KSO_WM_DIAGRAM_VIRTUALLY_FRAME" val="{&quot;height&quot;:288.85,&quot;left&quot;:153.3,&quot;top&quot;:109.55,&quot;width&quot;:289.45}"/>
</p:tagLst>
</file>

<file path=ppt/tags/tag6.xml><?xml version="1.0" encoding="utf-8"?>
<p:tagLst xmlns:p="http://schemas.openxmlformats.org/presentationml/2006/main">
  <p:tag name="KSO_WM_DIAGRAM_VIRTUALLY_FRAME" val="{&quot;height&quot;:288.85,&quot;left&quot;:153.3,&quot;top&quot;:109.55,&quot;width&quot;:289.45}"/>
</p:tagLst>
</file>

<file path=ppt/tags/tag7.xml><?xml version="1.0" encoding="utf-8"?>
<p:tagLst xmlns:p="http://schemas.openxmlformats.org/presentationml/2006/main">
  <p:tag name="KSO_WM_DIAGRAM_VIRTUALLY_FRAME" val="{&quot;height&quot;:288.85,&quot;left&quot;:153.3,&quot;top&quot;:109.55,&quot;width&quot;:289.45}"/>
</p:tagLst>
</file>

<file path=ppt/tags/tag8.xml><?xml version="1.0" encoding="utf-8"?>
<p:tagLst xmlns:p="http://schemas.openxmlformats.org/presentationml/2006/main">
  <p:tag name="KSO_WM_DIAGRAM_VIRTUALLY_FRAME" val="{&quot;height&quot;:288.85,&quot;left&quot;:153.3,&quot;top&quot;:109.55,&quot;width&quot;:289.45}"/>
</p:tagLst>
</file>

<file path=ppt/tags/tag9.xml><?xml version="1.0" encoding="utf-8"?>
<p:tagLst xmlns:p="http://schemas.openxmlformats.org/presentationml/2006/main">
  <p:tag name="KSO_WM_DIAGRAM_VIRTUALLY_FRAME" val="{&quot;height&quot;:288.85,&quot;left&quot;:153.3,&quot;top&quot;:109.55,&quot;width&quot;:289.4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1263</Words>
  <Application>WPS 演示</Application>
  <PresentationFormat>宽屏</PresentationFormat>
  <Paragraphs>75</Paragraphs>
  <Slides>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Arial</vt:lpstr>
      <vt:lpstr>宋体</vt:lpstr>
      <vt:lpstr>Wingdings</vt:lpstr>
      <vt:lpstr>Times New Roman</vt:lpstr>
      <vt:lpstr>Cambria Math</vt:lpstr>
      <vt:lpstr>MS Mincho</vt:lpstr>
      <vt:lpstr>Segoe Print</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天天</cp:lastModifiedBy>
  <cp:revision>11</cp:revision>
  <dcterms:created xsi:type="dcterms:W3CDTF">2023-08-09T12:44:00Z</dcterms:created>
  <dcterms:modified xsi:type="dcterms:W3CDTF">2025-12-31T01:46:45Z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D38996A400FA4620B37C0C880FE9C3E7_12</vt:lpwstr>
  </property>
</Properties>
</file>